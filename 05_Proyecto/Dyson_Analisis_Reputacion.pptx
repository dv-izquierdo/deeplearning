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Positivo</c:v>
                </c:pt>
              </c:strCache>
            </c:strRef>
          </c:tx>
          <c:spPr>
            <a:solidFill>
              <a:srgbClr val="8FCDA8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1A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Competencia</c:v>
                </c:pt>
                <c:pt idx="1">
                  <c:v>Dyson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45.5</c:v>
                </c:pt>
                <c:pt idx="1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8C-400E-A8FA-85A904B45CB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Negativo</c:v>
                </c:pt>
              </c:strCache>
            </c:strRef>
          </c:tx>
          <c:spPr>
            <a:solidFill>
              <a:srgbClr val="85B6DC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1A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Competencia</c:v>
                </c:pt>
                <c:pt idx="1">
                  <c:v>Dyson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54.5</c:v>
                </c:pt>
                <c:pt idx="1">
                  <c:v>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D8C-400E-A8FA-85A904B45CB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5C5C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Dyson</c:v>
                </c:pt>
              </c:strCache>
            </c:strRef>
          </c:tx>
          <c:spPr>
            <a:solidFill>
              <a:srgbClr val="8FCDA8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1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Servicio</c:v>
                </c:pt>
                <c:pt idx="1">
                  <c:v>Producto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</c:v>
                </c:pt>
                <c:pt idx="1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9B-4421-92C2-7C81222B1C2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Competencia</c:v>
                </c:pt>
              </c:strCache>
            </c:strRef>
          </c:tx>
          <c:spPr>
            <a:solidFill>
              <a:srgbClr val="85B6DC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1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Servicio</c:v>
                </c:pt>
                <c:pt idx="1">
                  <c:v>Producto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63.8</c:v>
                </c:pt>
                <c:pt idx="1">
                  <c:v>36.200000000000003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B9B-4421-92C2-7C81222B1C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5C5C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Positivo</c:v>
                </c:pt>
              </c:strCache>
            </c:strRef>
          </c:tx>
          <c:spPr>
            <a:solidFill>
              <a:srgbClr val="8FCDA8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50" b="0" i="0" u="none" strike="noStrike">
                    <a:solidFill>
                      <a:srgbClr val="1A1A1A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Producto  ·  Competencia</c:v>
                </c:pt>
                <c:pt idx="1">
                  <c:v>Producto  ·  Dyson</c:v>
                </c:pt>
                <c:pt idx="2">
                  <c:v>Servicio  ·  Competencia</c:v>
                </c:pt>
                <c:pt idx="3">
                  <c:v>Servicio  ·  Dyson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48.7</c:v>
                </c:pt>
                <c:pt idx="1">
                  <c:v>32</c:v>
                </c:pt>
                <c:pt idx="2">
                  <c:v>43.6</c:v>
                </c:pt>
                <c:pt idx="3">
                  <c:v>26.7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60-4658-95BD-3DE4CF2F625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Negativo</c:v>
                </c:pt>
              </c:strCache>
            </c:strRef>
          </c:tx>
          <c:spPr>
            <a:solidFill>
              <a:srgbClr val="85B6DC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50" b="0" i="0" u="none" strike="noStrike">
                    <a:solidFill>
                      <a:srgbClr val="1A1A1A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Producto  ·  Competencia</c:v>
                </c:pt>
                <c:pt idx="1">
                  <c:v>Producto  ·  Dyson</c:v>
                </c:pt>
                <c:pt idx="2">
                  <c:v>Servicio  ·  Competencia</c:v>
                </c:pt>
                <c:pt idx="3">
                  <c:v>Servicio  ·  Dyson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51.3</c:v>
                </c:pt>
                <c:pt idx="1">
                  <c:v>68</c:v>
                </c:pt>
                <c:pt idx="2">
                  <c:v>56.4</c:v>
                </c:pt>
                <c:pt idx="3">
                  <c:v>73.3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460-4658-95BD-3DE4CF2F625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5C5C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5860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5120640" cy="5120640"/>
          </a:xfrm>
          <a:prstGeom prst="ellipse">
            <a:avLst/>
          </a:prstGeom>
          <a:solidFill>
            <a:srgbClr val="DEEAF6">
              <a:alpha val="9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149840" y="1188720"/>
            <a:ext cx="3017520" cy="3017520"/>
          </a:xfrm>
          <a:prstGeom prst="ellipse">
            <a:avLst/>
          </a:prstGeom>
          <a:solidFill>
            <a:srgbClr val="DEF1E6">
              <a:alpha val="9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E7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RESULTADOS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4231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Sentimiento y Topics en las Reseñas Online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3977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Dyson frente a la competencia — Sector Electronics &amp; Technology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6172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basado en reseñas de Trustpilot   ·   David Izquierdo   ·   Junio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256032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400" b="1" dirty="0">
                <a:solidFill>
                  <a:srgbClr val="E4E4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del análisis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8FCDA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711" y="1936151"/>
            <a:ext cx="260787" cy="2607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44168" y="17465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y limpieza de datos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44168" y="2112264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Consolidar y depurar las reseñas (texto, emojis, duplicados) para su análisis.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63640" y="1783080"/>
            <a:ext cx="566928" cy="566928"/>
          </a:xfrm>
          <a:prstGeom prst="ellipse">
            <a:avLst/>
          </a:prstGeom>
          <a:solidFill>
            <a:srgbClr val="85B6DC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6711" y="1936151"/>
            <a:ext cx="260787" cy="26078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59168" y="17465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Sentimiento global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059168" y="2112264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cada reseña como positiva o negativa con un modelo de NLP.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337560"/>
            <a:ext cx="566928" cy="566928"/>
          </a:xfrm>
          <a:prstGeom prst="ellipse">
            <a:avLst/>
          </a:prstGeom>
          <a:solidFill>
            <a:srgbClr val="8FCDA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711" y="3490631"/>
            <a:ext cx="260787" cy="26078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44168" y="33009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Descubrir topics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44168" y="3666744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los temas principales de conversación mediante modelado no supervisado.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263640" y="3337560"/>
            <a:ext cx="566928" cy="566928"/>
          </a:xfrm>
          <a:prstGeom prst="ellipse">
            <a:avLst/>
          </a:prstGeom>
          <a:solidFill>
            <a:srgbClr val="85B6DC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6711" y="3490631"/>
            <a:ext cx="260787" cy="26078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59168" y="33009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Sentimiento por topic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7059168" y="3666744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cómo varía la opinión positiva o negativa según el tema tratado.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4892040"/>
            <a:ext cx="566928" cy="566928"/>
          </a:xfrm>
          <a:prstGeom prst="ellipse">
            <a:avLst/>
          </a:prstGeom>
          <a:solidFill>
            <a:srgbClr val="8FCDA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711" y="5045111"/>
            <a:ext cx="260787" cy="26078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44168" y="48554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sectorial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1344168" y="5221224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Contrastar los resultados de Dyson frente al resto de empresas del sector.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263640" y="4892040"/>
            <a:ext cx="566928" cy="566928"/>
          </a:xfrm>
          <a:prstGeom prst="ellipse">
            <a:avLst/>
          </a:prstGeom>
          <a:solidFill>
            <a:srgbClr val="85B6DC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6711" y="5045111"/>
            <a:ext cx="260787" cy="260787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059168" y="48554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next steps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7059168" y="5221224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Traducir los hallazgos en recomendaciones concretas para negocio.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reseñas Trustpilot  ·  Dyson vs. Competencia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256032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400" b="1" dirty="0">
                <a:solidFill>
                  <a:srgbClr val="E4E4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y alcance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DEF1E6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22960" y="19476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3E7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123.181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262432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reseñas totales analizadas en Trustpilot (todas las categorías)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26480" y="17830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DEEAF6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400800" y="19476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E5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5.596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400800" y="262432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reseñas del sector Electronics &amp; Technology: Dyson + competencia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del análisis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727843" y="4114800"/>
            <a:ext cx="566928" cy="566928"/>
          </a:xfrm>
          <a:prstGeom prst="ellipse">
            <a:avLst/>
          </a:prstGeom>
          <a:solidFill>
            <a:srgbClr val="8FCDA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0914" y="4267871"/>
            <a:ext cx="260787" cy="26078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51187" y="4745736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de texto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51187" y="507492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Emojis, URLs,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stopwords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011307" y="4050792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4333883" y="4114800"/>
            <a:ext cx="566928" cy="566928"/>
          </a:xfrm>
          <a:prstGeom prst="ellipse">
            <a:avLst/>
          </a:prstGeom>
          <a:solidFill>
            <a:srgbClr val="85B6DC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6954" y="4267871"/>
            <a:ext cx="260787" cy="26078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657227" y="4745736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Sentimiento (BERT)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657227" y="507492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nlptown / bert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multilingüe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4617347" y="4050792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6939923" y="4114800"/>
            <a:ext cx="566928" cy="566928"/>
          </a:xfrm>
          <a:prstGeom prst="ellipse">
            <a:avLst/>
          </a:prstGeom>
          <a:solidFill>
            <a:srgbClr val="8FCDA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2994" y="4267871"/>
            <a:ext cx="260787" cy="26078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63267" y="4745736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(BERTopic)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263267" y="507492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no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supervisado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7223387" y="4050792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9545963" y="4114800"/>
            <a:ext cx="566928" cy="566928"/>
          </a:xfrm>
          <a:prstGeom prst="ellipse">
            <a:avLst/>
          </a:prstGeom>
          <a:solidFill>
            <a:srgbClr val="85B6DC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9034" y="4267871"/>
            <a:ext cx="260787" cy="260787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869307" y="4745736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 de negocio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8869307" y="507492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/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reseñas Trustpilot  ·  Dyson vs. Competencia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256032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400" b="1" dirty="0">
                <a:solidFill>
                  <a:srgbClr val="E4E4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Sentimiento global: Dyson vs. competencia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reseñas clasificadas como positivas o negativas (modelo BERT multilingüe)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828800"/>
          <a:ext cx="68580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680960" y="1828800"/>
            <a:ext cx="3977640" cy="4023360"/>
          </a:xfrm>
          <a:prstGeom prst="roundRect">
            <a:avLst>
              <a:gd name="adj" fmla="val 1839"/>
            </a:avLst>
          </a:prstGeom>
          <a:solidFill>
            <a:srgbClr val="DEF1E6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7955280" y="210312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E7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+17,5 pts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955280" y="27889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reseñas negativas en Dyson que en la competencia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955280" y="361188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Dyson: </a:t>
            </a: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negativo  ·  28% positivo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Competencia: </a:t>
            </a: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54,5% negativo  ·  45,5% positivo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955280" y="480060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Dyson parte de una percepción más negativa que el resto del sector: una brecha relevante a cerrar.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reseñas Trustpilot  ·  Dyson vs. Competencia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256032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400" b="1" dirty="0">
                <a:solidFill>
                  <a:srgbClr val="E4E4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¿De qué hablan las reseñas? Servicio vs. producto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descubiertos con BERTopic, consolidados en 2 categorías de negocio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828800"/>
          <a:ext cx="64008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223760" y="1828800"/>
            <a:ext cx="4434840" cy="4023360"/>
          </a:xfrm>
          <a:prstGeom prst="roundRect">
            <a:avLst>
              <a:gd name="adj" fmla="val 1818"/>
            </a:avLst>
          </a:prstGeom>
          <a:solidFill>
            <a:srgbClr val="DEEAF6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7498080" y="2103120"/>
            <a:ext cx="4053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5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de </a:t>
            </a:r>
            <a:r>
              <a:rPr lang="en-US" sz="3000" b="1" dirty="0" err="1">
                <a:solidFill>
                  <a:srgbClr val="2E5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</a:t>
            </a:r>
            <a:r>
              <a:rPr lang="en-US" sz="3000" b="1" dirty="0">
                <a:solidFill>
                  <a:srgbClr val="2E5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4 </a:t>
            </a:r>
            <a:r>
              <a:rPr lang="en-US" sz="3000" b="1" dirty="0" err="1">
                <a:solidFill>
                  <a:srgbClr val="2E5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reseñas</a:t>
            </a:r>
            <a:r>
              <a:rPr lang="en-US" sz="3000" b="1" dirty="0">
                <a:solidFill>
                  <a:srgbClr val="2E5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son </a:t>
            </a:r>
            <a:r>
              <a:rPr lang="en-US" sz="3000" b="1" dirty="0" err="1">
                <a:solidFill>
                  <a:srgbClr val="2E5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sobre</a:t>
            </a:r>
            <a:r>
              <a:rPr lang="en-US" sz="3000" b="1" dirty="0">
                <a:solidFill>
                  <a:srgbClr val="2E5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000" b="1" dirty="0" err="1">
                <a:solidFill>
                  <a:srgbClr val="2E5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servicios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498080" y="2967134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Giran </a:t>
            </a:r>
            <a:r>
              <a:rPr lang="en-US" sz="12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torno al Servicio </a:t>
            </a:r>
            <a:r>
              <a:rPr lang="en-US" sz="12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75%, frente a 2 de cada 3 en la competencia (63,8%).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498080" y="374904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foco de conversación —y de friction— está más en la experiencia de atención y postventa que en el producto en sí.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498080" y="4709160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los topics de la competencia aparecen marcas directamente comparables (p. ej. Shark, en cuidado del hogar): base para un benchmark más específico.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reseñas Trustpilot  ·  Dyson vs. Competencia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256032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400" b="1" dirty="0">
                <a:solidFill>
                  <a:srgbClr val="E4E4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Sentimiento por categoría de topic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Cruce de sentimiento (positivo/negativo) y topic (Servicio/Producto) — Dyson vs. competencia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828800"/>
          <a:ext cx="68580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680960" y="1828800"/>
            <a:ext cx="3977640" cy="4023360"/>
          </a:xfrm>
          <a:prstGeom prst="roundRect">
            <a:avLst>
              <a:gd name="adj" fmla="val 1839"/>
            </a:avLst>
          </a:prstGeom>
          <a:solidFill>
            <a:srgbClr val="DEF1E6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7955280" y="20574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E7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73,3%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7955280" y="2715768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reseñas de Servicio de Dyson son negativas: el peor registro de todo el análisis.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955280" y="352044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Producto se repite el patrón: 68,0% negativo en Dyson frente a 51,3% en la competencia.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955280" y="443484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brecha frente a la competencia es similar en ambas categorías (≈17 puntos): la percepción negativa de Dyson no se limita a un área, es generalizada.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reseñas Trustpilot  ·  Dyson vs. Competencia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256032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400" b="1" dirty="0">
                <a:solidFill>
                  <a:srgbClr val="E4E4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DEF1E6"/>
          </a:solidFill>
          <a:ln/>
          <a:effectLst>
            <a:outerShdw blurRad="889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22960" y="19842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E7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44144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de sentimiento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862072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Dyson acumula un 72% de reseñas negativas frente al 54,5% de la competencia: 17,5 puntos por debajo del sector.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DEEAF6"/>
          </a:solidFill>
          <a:ln/>
          <a:effectLst>
            <a:outerShdw blurRad="889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446520" y="19842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5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46520" y="244144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servicio, foco de la conversación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46520" y="2862072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75% de las reseñas de Dyson hablan de Servicio, frente al 63,8% en la competencia.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DEF1E6"/>
          </a:solidFill>
          <a:ln/>
          <a:effectLst>
            <a:outerShdw blurRad="889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822960" y="42245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E7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2960" y="468172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directo disponible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2960" y="5102352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los topics de la competencia aparece Shark, competidor directo en limpieza del hogar.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4023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DEEAF6"/>
          </a:solidFill>
          <a:ln/>
          <a:effectLst>
            <a:outerShdw blurRad="889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446520" y="42245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5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46520" y="468172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generalizada, no aislada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46520" y="5102352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gap de negatividad frente a la competencia es similar en Servicio (+17 pts) y en Producto (+17 pts): no es un problema acotado a un área.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reseñas Trustpilot  ·  Dyson vs. Competencia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256032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400" b="1" dirty="0">
                <a:solidFill>
                  <a:srgbClr val="E4E4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pasos: propuestas para el equipo de negocio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recomendadas y objetivos para mejorar frente a la competencia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2617300"/>
              </p:ext>
            </p:extLst>
          </p:nvPr>
        </p:nvGraphicFramePr>
        <p:xfrm>
          <a:off x="548640" y="1783080"/>
          <a:ext cx="11064240" cy="3977640"/>
        </p:xfrm>
        <a:graphic>
          <a:graphicData uri="http://schemas.openxmlformats.org/drawingml/2006/table">
            <a:tbl>
              <a:tblPr/>
              <a:tblGrid>
                <a:gridCol w="6217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Propuesta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Auditar el proceso de atención al cliente y postventa (llamadas, entregas, gestión de piezas/repuestos): el área con más volumen de quejas (75% de las reseñas).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3E7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Bajar el % negativo de Servicio del 73,3% actual a menos del 56,4% (nivel de la competencia) en 2 trimestres.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Revisar la calidad y fiabilidad del producto (baterías, piezas, repuestos): el gap de negatividad es tan amplio como en Servicio.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3E7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Bajar el % negativo de Producto del 68,0% actual a menos del 51,3% (nivel de la competencia) en 2 trimestres.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Realizar un benchmark directo frente a Shark y otras marcas de cuidado del hogar identificadas en el análisis de topics.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3E7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Identificar al menos 3 </a:t>
                      </a:r>
                      <a:r>
                        <a:rPr lang="en-US" sz="1150" b="1" dirty="0" err="1">
                          <a:solidFill>
                            <a:srgbClr val="3E7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áreas</a:t>
                      </a:r>
                      <a:r>
                        <a:rPr lang="en-US" sz="1150" b="1" dirty="0">
                          <a:solidFill>
                            <a:srgbClr val="3E7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 mejora replicables a partir de las prácticas de la competencia.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Implementar un dashboard recurrente de sentimiento y topics, ya con el cruce sentimiento × categoría incorporado.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3E7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Medir trimestralmente el impacto de cada acción de mejora.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reseñas Trustpilot  ·  Dyson vs. Competencia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845</Words>
  <Application>Microsoft Office PowerPoint</Application>
  <PresentationFormat>Panorámica</PresentationFormat>
  <Paragraphs>104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Sentimiento y Topics en Reseñas Online — Dyson vs. Competencia</dc:title>
  <dc:subject>PptxGenJS Presentation</dc:subject>
  <dc:creator>Equipo de Datos y Analítica</dc:creator>
  <cp:lastModifiedBy>David Izquierdo</cp:lastModifiedBy>
  <cp:revision>2</cp:revision>
  <dcterms:created xsi:type="dcterms:W3CDTF">2026-06-18T11:31:12Z</dcterms:created>
  <dcterms:modified xsi:type="dcterms:W3CDTF">2026-06-18T11:49:54Z</dcterms:modified>
</cp:coreProperties>
</file>